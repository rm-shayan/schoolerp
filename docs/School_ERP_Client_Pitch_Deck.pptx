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463040"/>
            <a:ext cx="5029200" cy="5029200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-822960"/>
            <a:ext cx="3291840" cy="3291840"/>
          </a:xfrm>
          <a:prstGeom prst="ellipse">
            <a:avLst/>
          </a:prstGeom>
          <a:solidFill>
            <a:srgbClr val="0F3A5F"/>
          </a:solidFill>
          <a:ln/>
        </p:spPr>
      </p:sp>
      <p:sp>
        <p:nvSpPr>
          <p:cNvPr id="4" name="Shape 2"/>
          <p:cNvSpPr/>
          <p:nvPr/>
        </p:nvSpPr>
        <p:spPr>
          <a:xfrm>
            <a:off x="-1737360" y="4572000"/>
            <a:ext cx="3931920" cy="3931920"/>
          </a:xfrm>
          <a:prstGeom prst="ellipse">
            <a:avLst/>
          </a:prstGeom>
          <a:solidFill>
            <a:srgbClr val="0F3A5F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737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ERP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13232" y="2103120"/>
            <a:ext cx="10241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Your Entire School</a:t>
            </a:r>
            <a:endParaRPr lang="en-US" sz="4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One Platform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731520" y="37947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AF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Admissions · Attendance · Fees · Communication — automated, connected, and visible to everyone who needs it.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4617720"/>
            <a:ext cx="1371600" cy="457200"/>
          </a:xfrm>
          <a:prstGeom prst="roundRect">
            <a:avLst>
              <a:gd name="adj" fmla="val 50000"/>
            </a:avLst>
          </a:prstGeom>
          <a:solidFill>
            <a:srgbClr val="12456E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46177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Cloud-based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331720" y="4617720"/>
            <a:ext cx="1920240" cy="457200"/>
          </a:xfrm>
          <a:prstGeom prst="roundRect">
            <a:avLst>
              <a:gd name="adj" fmla="val 50000"/>
            </a:avLst>
          </a:prstGeom>
          <a:solidFill>
            <a:srgbClr val="12456E"/>
          </a:solidFill>
          <a:ln/>
        </p:spPr>
      </p:sp>
      <p:sp>
        <p:nvSpPr>
          <p:cNvPr id="11" name="Text 9"/>
          <p:cNvSpPr/>
          <p:nvPr/>
        </p:nvSpPr>
        <p:spPr>
          <a:xfrm>
            <a:off x="2331720" y="46177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updates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480560" y="4617720"/>
            <a:ext cx="2468880" cy="457200"/>
          </a:xfrm>
          <a:prstGeom prst="roundRect">
            <a:avLst>
              <a:gd name="adj" fmla="val 50000"/>
            </a:avLst>
          </a:prstGeom>
          <a:solidFill>
            <a:srgbClr val="12456E"/>
          </a:solidFill>
          <a:ln/>
        </p:spPr>
      </p:sp>
      <p:sp>
        <p:nvSpPr>
          <p:cNvPr id="13" name="Text 11"/>
          <p:cNvSpPr/>
          <p:nvPr/>
        </p:nvSpPr>
        <p:spPr>
          <a:xfrm>
            <a:off x="4480560" y="46177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scale with you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31520" y="6172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7691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PRODUCT WALKTHROUGH FOR SCHOOL LEADERS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EVERYDAY STRUGGLE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Running a School Shouldn't Feel This Hard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schools still run on paper registers, scattered spreadsheets, and phone calls — costing time, money, and parent trust.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EAF6F6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148840"/>
            <a:ext cx="82296" cy="1417320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313432"/>
            <a:ext cx="48600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Registers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22960" y="2715768"/>
            <a:ext cx="48600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marked by hand, fee ledgers on paper — slow, error-prone, easy to lose.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31636" y="214884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EAF6F6"/>
          </a:solidFill>
          <a:ln/>
        </p:spPr>
      </p:sp>
      <p:sp>
        <p:nvSpPr>
          <p:cNvPr id="10" name="Shape 8"/>
          <p:cNvSpPr/>
          <p:nvPr/>
        </p:nvSpPr>
        <p:spPr>
          <a:xfrm>
            <a:off x="6231636" y="2148840"/>
            <a:ext cx="82296" cy="1417320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11" name="Text 9"/>
          <p:cNvSpPr/>
          <p:nvPr/>
        </p:nvSpPr>
        <p:spPr>
          <a:xfrm>
            <a:off x="6505956" y="2313432"/>
            <a:ext cx="48600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Late Fee Collection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6505956" y="2715768"/>
            <a:ext cx="48600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automatic reminders. Staff spend hours chasing payments every single month.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79476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EAF6F6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3794760"/>
            <a:ext cx="82296" cy="1417320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959352"/>
            <a:ext cx="48600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Parents Left in the Dark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822960" y="4361688"/>
            <a:ext cx="48600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visibility into attendance, results, or fees — every question becomes a phone call.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31636" y="379476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EAF6F6"/>
          </a:solidFill>
          <a:ln/>
        </p:spPr>
      </p:sp>
      <p:sp>
        <p:nvSpPr>
          <p:cNvPr id="18" name="Shape 16"/>
          <p:cNvSpPr/>
          <p:nvPr/>
        </p:nvSpPr>
        <p:spPr>
          <a:xfrm>
            <a:off x="6231636" y="3794760"/>
            <a:ext cx="82296" cy="1417320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19" name="Text 17"/>
          <p:cNvSpPr/>
          <p:nvPr/>
        </p:nvSpPr>
        <p:spPr>
          <a:xfrm>
            <a:off x="6505956" y="3959352"/>
            <a:ext cx="48600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Admission Season Chaos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6505956" y="4361688"/>
            <a:ext cx="48600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forms, manual ID cards, and lost applicant records during your busiest weeks.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5989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Sound familiar? There's a better way to run your school.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ERP — Product Overview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A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Meet School ERP — One Platform, Every Task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ERP brings admissions, attendance, fees, academics, and communication into a single connected system — built for one campus today and ready for ten tomorrow.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3392424" cy="1417320"/>
          </a:xfrm>
          <a:prstGeom prst="roundRect">
            <a:avLst>
              <a:gd name="adj" fmla="val 5161"/>
            </a:avLst>
          </a:prstGeom>
          <a:solidFill>
            <a:srgbClr val="0B2545"/>
          </a:solidFill>
          <a:ln/>
          <a:effectLst>
            <a:outerShdw sx="100000" sy="100000" kx="0" ky="0" algn="bl" rotWithShape="0" blurRad="76200" dist="25400" dir="5400000">
              <a:srgbClr val="0B2545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2450592"/>
            <a:ext cx="3026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SCHOOL GROUP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31520" y="2852928"/>
            <a:ext cx="3026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connected account for your entire institution, however many campuses you run.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941064" y="27203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4398264" y="2286000"/>
            <a:ext cx="3392424" cy="1417320"/>
          </a:xfrm>
          <a:prstGeom prst="roundRect">
            <a:avLst>
              <a:gd name="adj" fmla="val 5161"/>
            </a:avLst>
          </a:prstGeom>
          <a:solidFill>
            <a:srgbClr val="028090"/>
          </a:solidFill>
          <a:ln/>
          <a:effectLst>
            <a:outerShdw sx="100000" sy="100000" kx="0" ky="0" algn="bl" rotWithShape="0" blurRad="76200" dist="25400" dir="5400000">
              <a:srgbClr val="0B2545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81144" y="2450592"/>
            <a:ext cx="3026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EACH CAMPUS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81144" y="2852928"/>
            <a:ext cx="3026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own dashboard, its own staff, its own students — fully independent, fully secure.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90688" y="27203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8247888" y="2286000"/>
            <a:ext cx="3392424" cy="1417320"/>
          </a:xfrm>
          <a:prstGeom prst="roundRect">
            <a:avLst>
              <a:gd name="adj" fmla="val 5161"/>
            </a:avLst>
          </a:prstGeom>
          <a:solidFill>
            <a:srgbClr val="F2A93B"/>
          </a:solidFill>
          <a:ln/>
          <a:effectLst>
            <a:outerShdw sx="100000" sy="100000" kx="0" ky="0" algn="bl" rotWithShape="0" blurRad="76200" dist="25400" dir="5400000">
              <a:srgbClr val="0B2545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430768" y="2450592"/>
            <a:ext cx="3026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EVERYONE CONNECTED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430768" y="2852928"/>
            <a:ext cx="3026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Principals, teachers, front desk, parents, and students — each with their own portal.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114800"/>
            <a:ext cx="11091672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27939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 for you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" y="46177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stop juggling separate tools for attendance, fees, and communication. Everything lives in one place, updates in real time, and is visible to exactly the right people — nothing more, nothing less.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ERP — Product Overview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Sign-Up to Running Live in Days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498598" cy="2651760"/>
          </a:xfrm>
          <a:prstGeom prst="roundRect">
            <a:avLst>
              <a:gd name="adj" fmla="val 2928"/>
            </a:avLst>
          </a:prstGeom>
          <a:solidFill>
            <a:srgbClr val="EAF6F6"/>
          </a:solidFill>
          <a:ln/>
        </p:spPr>
      </p:sp>
      <p:sp>
        <p:nvSpPr>
          <p:cNvPr id="5" name="Shape 3"/>
          <p:cNvSpPr/>
          <p:nvPr/>
        </p:nvSpPr>
        <p:spPr>
          <a:xfrm>
            <a:off x="1477899" y="228600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1477899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3108960"/>
            <a:ext cx="21328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Set Up Your School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31520" y="3749040"/>
            <a:ext cx="213283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organization and first campus are created and ready to go.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047238" y="306324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412998" y="2011680"/>
            <a:ext cx="2498598" cy="2651760"/>
          </a:xfrm>
          <a:prstGeom prst="roundRect">
            <a:avLst>
              <a:gd name="adj" fmla="val 2928"/>
            </a:avLst>
          </a:prstGeom>
          <a:solidFill>
            <a:srgbClr val="EAF6F6"/>
          </a:solidFill>
          <a:ln/>
        </p:spPr>
      </p:sp>
      <p:sp>
        <p:nvSpPr>
          <p:cNvPr id="11" name="Shape 9"/>
          <p:cNvSpPr/>
          <p:nvPr/>
        </p:nvSpPr>
        <p:spPr>
          <a:xfrm>
            <a:off x="4342257" y="228600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4342257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595878" y="3108960"/>
            <a:ext cx="21328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Invite Your Team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595878" y="3749040"/>
            <a:ext cx="213283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Principals, teachers, and front-desk staff each get their own secure login.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911596" y="306324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277356" y="2011680"/>
            <a:ext cx="2498598" cy="2651760"/>
          </a:xfrm>
          <a:prstGeom prst="roundRect">
            <a:avLst>
              <a:gd name="adj" fmla="val 2928"/>
            </a:avLst>
          </a:prstGeom>
          <a:solidFill>
            <a:srgbClr val="EAF6F6"/>
          </a:solidFill>
          <a:ln/>
        </p:spPr>
      </p:sp>
      <p:sp>
        <p:nvSpPr>
          <p:cNvPr id="17" name="Shape 15"/>
          <p:cNvSpPr/>
          <p:nvPr/>
        </p:nvSpPr>
        <p:spPr>
          <a:xfrm>
            <a:off x="7206615" y="228600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7206615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460236" y="3108960"/>
            <a:ext cx="21328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Everyone Gets a Portal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460236" y="3749040"/>
            <a:ext cx="213283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Staff, parents, and students each see exactly what's relevant to them.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775954" y="306324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9141714" y="2011680"/>
            <a:ext cx="2498598" cy="2651760"/>
          </a:xfrm>
          <a:prstGeom prst="roundRect">
            <a:avLst>
              <a:gd name="adj" fmla="val 2928"/>
            </a:avLst>
          </a:prstGeom>
          <a:solidFill>
            <a:srgbClr val="EAF6F6"/>
          </a:solidFill>
          <a:ln/>
        </p:spPr>
      </p:sp>
      <p:sp>
        <p:nvSpPr>
          <p:cNvPr id="23" name="Shape 21"/>
          <p:cNvSpPr/>
          <p:nvPr/>
        </p:nvSpPr>
        <p:spPr>
          <a:xfrm>
            <a:off x="10070973" y="2286000"/>
            <a:ext cx="640080" cy="64008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4" name="Text 22"/>
          <p:cNvSpPr/>
          <p:nvPr/>
        </p:nvSpPr>
        <p:spPr>
          <a:xfrm>
            <a:off x="10070973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9324594" y="3108960"/>
            <a:ext cx="21328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School Runs Digitally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9324594" y="3749040"/>
            <a:ext cx="213283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Attendance, fees, and communication happen automatically, every day.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48640" y="50292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lengthy setup. No steep learning curve. Your team is trained and live in days, not months.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ERP — Product Overview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A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EVERYONE IN YOUR SCHOOL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System, Built for Every Role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567178" cy="4023360"/>
          </a:xfrm>
          <a:prstGeom prst="roundRect">
            <a:avLst>
              <a:gd name="adj" fmla="val 2850"/>
            </a:avLst>
          </a:prstGeom>
          <a:solidFill>
            <a:srgbClr val="0B2545"/>
          </a:solidFill>
          <a:ln/>
        </p:spPr>
      </p:sp>
      <p:sp>
        <p:nvSpPr>
          <p:cNvPr id="5" name="Shape 3"/>
          <p:cNvSpPr/>
          <p:nvPr/>
        </p:nvSpPr>
        <p:spPr>
          <a:xfrm>
            <a:off x="1512189" y="192024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1512189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" y="2743200"/>
            <a:ext cx="229285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Principal / Admin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383280"/>
            <a:ext cx="220141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command center — enrollment, fees, staff, and performance at a glance.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90138" y="1600200"/>
            <a:ext cx="2567178" cy="4023360"/>
          </a:xfrm>
          <a:prstGeom prst="roundRect">
            <a:avLst>
              <a:gd name="adj" fmla="val 2850"/>
            </a:avLst>
          </a:prstGeom>
          <a:solidFill>
            <a:srgbClr val="028090"/>
          </a:solidFill>
          <a:ln/>
        </p:spPr>
      </p:sp>
      <p:sp>
        <p:nvSpPr>
          <p:cNvPr id="10" name="Shape 8"/>
          <p:cNvSpPr/>
          <p:nvPr/>
        </p:nvSpPr>
        <p:spPr>
          <a:xfrm>
            <a:off x="4353687" y="192024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4353687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527298" y="2743200"/>
            <a:ext cx="229285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Teachers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73018" y="3383280"/>
            <a:ext cx="220141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attendance, assign homework, record conduct, and view their timetable in seconds.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31636" y="1600200"/>
            <a:ext cx="2567178" cy="4023360"/>
          </a:xfrm>
          <a:prstGeom prst="roundRect">
            <a:avLst>
              <a:gd name="adj" fmla="val 2850"/>
            </a:avLst>
          </a:prstGeom>
          <a:solidFill>
            <a:srgbClr val="02C39A"/>
          </a:solidFill>
          <a:ln/>
        </p:spPr>
      </p:sp>
      <p:sp>
        <p:nvSpPr>
          <p:cNvPr id="15" name="Shape 13"/>
          <p:cNvSpPr/>
          <p:nvPr/>
        </p:nvSpPr>
        <p:spPr>
          <a:xfrm>
            <a:off x="7195185" y="192024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7195185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368796" y="2743200"/>
            <a:ext cx="229285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 Desk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14516" y="3383280"/>
            <a:ext cx="220141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admissions and gate check-in without ever touching a paper form.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073134" y="1600200"/>
            <a:ext cx="2567178" cy="4023360"/>
          </a:xfrm>
          <a:prstGeom prst="roundRect">
            <a:avLst>
              <a:gd name="adj" fmla="val 2850"/>
            </a:avLst>
          </a:prstGeom>
          <a:solidFill>
            <a:srgbClr val="F2A93B"/>
          </a:solidFill>
          <a:ln/>
        </p:spPr>
      </p:sp>
      <p:sp>
        <p:nvSpPr>
          <p:cNvPr id="20" name="Shape 18"/>
          <p:cNvSpPr/>
          <p:nvPr/>
        </p:nvSpPr>
        <p:spPr>
          <a:xfrm>
            <a:off x="10036683" y="192024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10036683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P+S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210294" y="2743200"/>
            <a:ext cx="229285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Parents &amp; Students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256014" y="3383280"/>
            <a:ext cx="220141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attendance, fees, homework, and results the moment they're updated.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ERP — Product Overview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 Admission Season From Chaos to Control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035454" cy="960120"/>
          </a:xfrm>
          <a:prstGeom prst="roundRect">
            <a:avLst>
              <a:gd name="adj" fmla="val 6667"/>
            </a:avLst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91640"/>
            <a:ext cx="203545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Inquiry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584094" y="1965960"/>
            <a:ext cx="228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812694" y="1691640"/>
            <a:ext cx="2035454" cy="960120"/>
          </a:xfrm>
          <a:prstGeom prst="roundRect">
            <a:avLst>
              <a:gd name="adj" fmla="val 6667"/>
            </a:avLst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2812694" y="1691640"/>
            <a:ext cx="203545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48149" y="1965960"/>
            <a:ext cx="228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076749" y="1691640"/>
            <a:ext cx="2035454" cy="960120"/>
          </a:xfrm>
          <a:prstGeom prst="roundRect">
            <a:avLst>
              <a:gd name="adj" fmla="val 6667"/>
            </a:avLst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5076749" y="1691640"/>
            <a:ext cx="203545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Approved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112203" y="1965960"/>
            <a:ext cx="228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340803" y="1691640"/>
            <a:ext cx="2035454" cy="960120"/>
          </a:xfrm>
          <a:prstGeom prst="roundRect">
            <a:avLst>
              <a:gd name="adj" fmla="val 6667"/>
            </a:avLst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7340803" y="1691640"/>
            <a:ext cx="203545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Fee Paid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376258" y="1965960"/>
            <a:ext cx="228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604858" y="1691640"/>
            <a:ext cx="2035454" cy="960120"/>
          </a:xfrm>
          <a:prstGeom prst="roundRect">
            <a:avLst>
              <a:gd name="adj" fmla="val 6667"/>
            </a:avLst>
          </a:prstGeom>
          <a:solidFill>
            <a:srgbClr val="F2A93B"/>
          </a:solidFill>
          <a:ln/>
        </p:spPr>
      </p:sp>
      <p:sp>
        <p:nvSpPr>
          <p:cNvPr id="17" name="Text 15"/>
          <p:cNvSpPr/>
          <p:nvPr/>
        </p:nvSpPr>
        <p:spPr>
          <a:xfrm>
            <a:off x="9604858" y="1691640"/>
            <a:ext cx="203545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Enrolled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2971800"/>
            <a:ext cx="5408676" cy="1097280"/>
          </a:xfrm>
          <a:prstGeom prst="roundRect">
            <a:avLst>
              <a:gd name="adj" fmla="val 5833"/>
            </a:avLst>
          </a:prstGeom>
          <a:solidFill>
            <a:srgbClr val="EAF6F6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3108960"/>
            <a:ext cx="49514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More Paper Forms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77240" y="3474720"/>
            <a:ext cx="49514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Applicants can even be captured from a public admission page.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31636" y="2971800"/>
            <a:ext cx="5408676" cy="1097280"/>
          </a:xfrm>
          <a:prstGeom prst="roundRect">
            <a:avLst>
              <a:gd name="adj" fmla="val 5833"/>
            </a:avLst>
          </a:prstGeom>
          <a:solidFill>
            <a:srgbClr val="EAF6F6"/>
          </a:solidFill>
          <a:ln/>
        </p:spPr>
      </p:sp>
      <p:sp>
        <p:nvSpPr>
          <p:cNvPr id="22" name="Text 20"/>
          <p:cNvSpPr/>
          <p:nvPr/>
        </p:nvSpPr>
        <p:spPr>
          <a:xfrm>
            <a:off x="6460236" y="3108960"/>
            <a:ext cx="49514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Instant QR ID Cards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60236" y="3474720"/>
            <a:ext cx="49514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enrolled student gets a professional ID card automatically.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4251960"/>
            <a:ext cx="5408676" cy="1097280"/>
          </a:xfrm>
          <a:prstGeom prst="roundRect">
            <a:avLst>
              <a:gd name="adj" fmla="val 5833"/>
            </a:avLst>
          </a:prstGeom>
          <a:solidFill>
            <a:srgbClr val="EAF6F6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4389120"/>
            <a:ext cx="49514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Automated Emails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77240" y="4754880"/>
            <a:ext cx="49514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letters, fee slips, and welcome emails send themselves.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231636" y="4251960"/>
            <a:ext cx="5408676" cy="1097280"/>
          </a:xfrm>
          <a:prstGeom prst="roundRect">
            <a:avLst>
              <a:gd name="adj" fmla="val 5833"/>
            </a:avLst>
          </a:prstGeom>
          <a:solidFill>
            <a:srgbClr val="EAF6F6"/>
          </a:solidFill>
          <a:ln/>
        </p:spPr>
      </p:sp>
      <p:sp>
        <p:nvSpPr>
          <p:cNvPr id="28" name="Text 26"/>
          <p:cNvSpPr/>
          <p:nvPr/>
        </p:nvSpPr>
        <p:spPr>
          <a:xfrm>
            <a:off x="6460236" y="4389120"/>
            <a:ext cx="49514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Nothing Falls Through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60236" y="4754880"/>
            <a:ext cx="49514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applicant is tracked from first inquiry to final enrollment.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ERP — Product Overview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A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Attendance That Runs Itself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quick tap at the gate — QR, RFID, or roll number — and everything else happens automatically.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2567178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1576197" y="2240280"/>
            <a:ext cx="512064" cy="51206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1576197" y="22402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2816352"/>
            <a:ext cx="22928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Scans In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115818" y="24231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390138" y="2103120"/>
            <a:ext cx="2567178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4417695" y="2240280"/>
            <a:ext cx="512064" cy="51206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4417695" y="22402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27298" y="2816352"/>
            <a:ext cx="22928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Marked Present / Late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957316" y="24231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231636" y="2103120"/>
            <a:ext cx="2567178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7259193" y="2240280"/>
            <a:ext cx="512064" cy="51206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7259193" y="22402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68796" y="2816352"/>
            <a:ext cx="22928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Notified Instantly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798814" y="24231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073134" y="2103120"/>
            <a:ext cx="2567178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10100691" y="2240280"/>
            <a:ext cx="512064" cy="51206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10100691" y="22402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210294" y="2816352"/>
            <a:ext cx="22928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on Admin Dashboard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3611880"/>
            <a:ext cx="11091672" cy="2057400"/>
          </a:xfrm>
          <a:prstGeom prst="roundRect">
            <a:avLst>
              <a:gd name="adj" fmla="val 3556"/>
            </a:avLst>
          </a:prstGeom>
          <a:solidFill>
            <a:srgbClr val="0B2545"/>
          </a:solidFill>
          <a:ln/>
        </p:spPr>
      </p:sp>
      <p:sp>
        <p:nvSpPr>
          <p:cNvPr id="25" name="Shape 23"/>
          <p:cNvSpPr/>
          <p:nvPr/>
        </p:nvSpPr>
        <p:spPr>
          <a:xfrm>
            <a:off x="822960" y="3922776"/>
            <a:ext cx="91440" cy="914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6" name="Text 24"/>
          <p:cNvSpPr/>
          <p:nvPr/>
        </p:nvSpPr>
        <p:spPr>
          <a:xfrm>
            <a:off x="1051560" y="38404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manual registers — no more end-of-day paperwork for teachers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822960" y="4361688"/>
            <a:ext cx="91440" cy="914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8" name="Text 26"/>
          <p:cNvSpPr/>
          <p:nvPr/>
        </p:nvSpPr>
        <p:spPr>
          <a:xfrm>
            <a:off x="1051560" y="4279392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Absences and late arrivals are flagged to parents the same morning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822960" y="4800600"/>
            <a:ext cx="91440" cy="914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0" name="Text 28"/>
          <p:cNvSpPr/>
          <p:nvPr/>
        </p:nvSpPr>
        <p:spPr>
          <a:xfrm>
            <a:off x="1051560" y="4718304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 re-scanning after being marked absent auto-corrects the record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822960" y="5239512"/>
            <a:ext cx="91440" cy="914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2" name="Text 30"/>
          <p:cNvSpPr/>
          <p:nvPr/>
        </p:nvSpPr>
        <p:spPr>
          <a:xfrm>
            <a:off x="1051560" y="5157216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Admins see live, real-time attendance across every classroom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ERP — Product Overview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 MANAGEMENT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Fee Collection, Without the Chasing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94960" cy="4434840"/>
          </a:xfrm>
          <a:prstGeom prst="roundRect">
            <a:avLst>
              <a:gd name="adj" fmla="val 1856"/>
            </a:avLst>
          </a:prstGeom>
          <a:solidFill>
            <a:srgbClr val="EAF6F6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916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YOUR FINANCE TEAM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868680" y="2267712"/>
            <a:ext cx="82296" cy="82296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2194560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fee vouchers generate automatically for every student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868680" y="3090672"/>
            <a:ext cx="82296" cy="82296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3017520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Reminders go out before and after the due date — no manual follow-up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68680" y="3913632"/>
            <a:ext cx="82296" cy="82296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3840480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payment produces an instant, professional receipt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68680" y="4736592"/>
            <a:ext cx="82296" cy="82296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4663440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visibility into who's paid, who's overdue, and by how much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17920" y="1463040"/>
            <a:ext cx="5422392" cy="4434840"/>
          </a:xfrm>
          <a:prstGeom prst="roundRect">
            <a:avLst>
              <a:gd name="adj" fmla="val 1856"/>
            </a:avLst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6492240" y="16916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PARENTS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537960" y="2267712"/>
            <a:ext cx="82296" cy="82296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7" name="Text 15"/>
          <p:cNvSpPr/>
          <p:nvPr/>
        </p:nvSpPr>
        <p:spPr>
          <a:xfrm>
            <a:off x="6766560" y="2194560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exactly what's due, what's paid, and what's outstanding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537960" y="3090672"/>
            <a:ext cx="82296" cy="82296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9" name="Text 17"/>
          <p:cNvSpPr/>
          <p:nvPr/>
        </p:nvSpPr>
        <p:spPr>
          <a:xfrm>
            <a:off x="6766560" y="3017520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 gentle reminder before a due date — no surprises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537960" y="3913632"/>
            <a:ext cx="82296" cy="82296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1" name="Text 19"/>
          <p:cNvSpPr/>
          <p:nvPr/>
        </p:nvSpPr>
        <p:spPr>
          <a:xfrm>
            <a:off x="6766560" y="3840480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a receipt by email the moment a payment is recorded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537960" y="4736592"/>
            <a:ext cx="82296" cy="82296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3" name="Text 21"/>
          <p:cNvSpPr/>
          <p:nvPr/>
        </p:nvSpPr>
        <p:spPr>
          <a:xfrm>
            <a:off x="6766560" y="4663440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less reason to call the school office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ERP — Product Overview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A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&amp; STUDENT EXPERIENCE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Portal Your Parents Will Actually Use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login with their phone or roll number gives every parent and student real-time visibility into school life.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8778240" y="1417320"/>
            <a:ext cx="2377440" cy="4892040"/>
          </a:xfrm>
          <a:prstGeom prst="roundRect">
            <a:avLst>
              <a:gd name="adj" fmla="val 9615"/>
            </a:avLst>
          </a:prstGeom>
          <a:solidFill>
            <a:srgbClr val="0B2545"/>
          </a:solidFill>
          <a:ln/>
        </p:spPr>
      </p:sp>
      <p:sp>
        <p:nvSpPr>
          <p:cNvPr id="6" name="Shape 4"/>
          <p:cNvSpPr/>
          <p:nvPr/>
        </p:nvSpPr>
        <p:spPr>
          <a:xfrm>
            <a:off x="8887968" y="1645920"/>
            <a:ext cx="2157984" cy="4434840"/>
          </a:xfrm>
          <a:prstGeom prst="roundRect">
            <a:avLst>
              <a:gd name="adj" fmla="val 4237"/>
            </a:avLst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9052560" y="1801368"/>
            <a:ext cx="1828800" cy="365760"/>
          </a:xfrm>
          <a:prstGeom prst="roundRect">
            <a:avLst>
              <a:gd name="adj" fmla="val 15000"/>
            </a:avLst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9052560" y="180136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School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9052560" y="2313432"/>
            <a:ext cx="1828800" cy="384048"/>
          </a:xfrm>
          <a:prstGeom prst="roundRect">
            <a:avLst>
              <a:gd name="adj" fmla="val 14286"/>
            </a:avLst>
          </a:prstGeom>
          <a:solidFill>
            <a:srgbClr val="EAF6F6"/>
          </a:solidFill>
          <a:ln/>
        </p:spPr>
      </p:sp>
      <p:sp>
        <p:nvSpPr>
          <p:cNvPr id="10" name="Shape 8"/>
          <p:cNvSpPr/>
          <p:nvPr/>
        </p:nvSpPr>
        <p:spPr>
          <a:xfrm>
            <a:off x="9162288" y="2450592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9345168" y="231343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9052560" y="2788920"/>
            <a:ext cx="1828800" cy="384048"/>
          </a:xfrm>
          <a:prstGeom prst="roundRect">
            <a:avLst>
              <a:gd name="adj" fmla="val 14286"/>
            </a:avLst>
          </a:prstGeom>
          <a:solidFill>
            <a:srgbClr val="EAF6F6"/>
          </a:solidFill>
          <a:ln/>
        </p:spPr>
      </p:sp>
      <p:sp>
        <p:nvSpPr>
          <p:cNvPr id="13" name="Shape 11"/>
          <p:cNvSpPr/>
          <p:nvPr/>
        </p:nvSpPr>
        <p:spPr>
          <a:xfrm>
            <a:off x="9162288" y="2926080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9345168" y="278892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9052560" y="3264408"/>
            <a:ext cx="1828800" cy="384048"/>
          </a:xfrm>
          <a:prstGeom prst="roundRect">
            <a:avLst>
              <a:gd name="adj" fmla="val 14286"/>
            </a:avLst>
          </a:prstGeom>
          <a:solidFill>
            <a:srgbClr val="EAF6F6"/>
          </a:solidFill>
          <a:ln/>
        </p:spPr>
      </p:sp>
      <p:sp>
        <p:nvSpPr>
          <p:cNvPr id="16" name="Shape 14"/>
          <p:cNvSpPr/>
          <p:nvPr/>
        </p:nvSpPr>
        <p:spPr>
          <a:xfrm>
            <a:off x="9162288" y="3401568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9345168" y="326440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9052560" y="3739896"/>
            <a:ext cx="1828800" cy="384048"/>
          </a:xfrm>
          <a:prstGeom prst="roundRect">
            <a:avLst>
              <a:gd name="adj" fmla="val 14286"/>
            </a:avLst>
          </a:prstGeom>
          <a:solidFill>
            <a:srgbClr val="EAF6F6"/>
          </a:solidFill>
          <a:ln/>
        </p:spPr>
      </p:sp>
      <p:sp>
        <p:nvSpPr>
          <p:cNvPr id="19" name="Shape 17"/>
          <p:cNvSpPr/>
          <p:nvPr/>
        </p:nvSpPr>
        <p:spPr>
          <a:xfrm>
            <a:off x="9162288" y="3877056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0" name="Text 18"/>
          <p:cNvSpPr/>
          <p:nvPr/>
        </p:nvSpPr>
        <p:spPr>
          <a:xfrm>
            <a:off x="9345168" y="3739896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9052560" y="4215384"/>
            <a:ext cx="1828800" cy="384048"/>
          </a:xfrm>
          <a:prstGeom prst="roundRect">
            <a:avLst>
              <a:gd name="adj" fmla="val 14286"/>
            </a:avLst>
          </a:prstGeom>
          <a:solidFill>
            <a:srgbClr val="EAF6F6"/>
          </a:solidFill>
          <a:ln/>
        </p:spPr>
      </p:sp>
      <p:sp>
        <p:nvSpPr>
          <p:cNvPr id="22" name="Shape 20"/>
          <p:cNvSpPr/>
          <p:nvPr/>
        </p:nvSpPr>
        <p:spPr>
          <a:xfrm>
            <a:off x="9162288" y="4352544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3" name="Text 21"/>
          <p:cNvSpPr/>
          <p:nvPr/>
        </p:nvSpPr>
        <p:spPr>
          <a:xfrm>
            <a:off x="9345168" y="421538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Timetable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052560" y="4690872"/>
            <a:ext cx="1828800" cy="384048"/>
          </a:xfrm>
          <a:prstGeom prst="roundRect">
            <a:avLst>
              <a:gd name="adj" fmla="val 14286"/>
            </a:avLst>
          </a:prstGeom>
          <a:solidFill>
            <a:srgbClr val="EAF6F6"/>
          </a:solidFill>
          <a:ln/>
        </p:spPr>
      </p:sp>
      <p:sp>
        <p:nvSpPr>
          <p:cNvPr id="25" name="Shape 23"/>
          <p:cNvSpPr/>
          <p:nvPr/>
        </p:nvSpPr>
        <p:spPr>
          <a:xfrm>
            <a:off x="9162288" y="4828032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6" name="Text 24"/>
          <p:cNvSpPr/>
          <p:nvPr/>
        </p:nvSpPr>
        <p:spPr>
          <a:xfrm>
            <a:off x="9345168" y="469087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48640" y="2221992"/>
            <a:ext cx="82296" cy="822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8" name="Text 26"/>
          <p:cNvSpPr/>
          <p:nvPr/>
        </p:nvSpPr>
        <p:spPr>
          <a:xfrm>
            <a:off x="749808" y="214884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&amp; daily records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663440" y="2221992"/>
            <a:ext cx="82296" cy="822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0" name="Text 28"/>
          <p:cNvSpPr/>
          <p:nvPr/>
        </p:nvSpPr>
        <p:spPr>
          <a:xfrm>
            <a:off x="4864608" y="214884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 status, receipts &amp; reminders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8640" y="2843784"/>
            <a:ext cx="82296" cy="822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2" name="Text 30"/>
          <p:cNvSpPr/>
          <p:nvPr/>
        </p:nvSpPr>
        <p:spPr>
          <a:xfrm>
            <a:off x="749808" y="277063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 &amp; study materials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663440" y="2843784"/>
            <a:ext cx="82296" cy="822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4" name="Text 32"/>
          <p:cNvSpPr/>
          <p:nvPr/>
        </p:nvSpPr>
        <p:spPr>
          <a:xfrm>
            <a:off x="4864608" y="277063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results &amp; report cards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48640" y="3465576"/>
            <a:ext cx="82296" cy="822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6" name="Text 34"/>
          <p:cNvSpPr/>
          <p:nvPr/>
        </p:nvSpPr>
        <p:spPr>
          <a:xfrm>
            <a:off x="749808" y="3392424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Timetable, downloadable as PDF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663440" y="3465576"/>
            <a:ext cx="82296" cy="822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8" name="Text 36"/>
          <p:cNvSpPr/>
          <p:nvPr/>
        </p:nvSpPr>
        <p:spPr>
          <a:xfrm>
            <a:off x="4864608" y="3392424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Circulars &amp; school notices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48640" y="4087368"/>
            <a:ext cx="82296" cy="822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0" name="Text 38"/>
          <p:cNvSpPr/>
          <p:nvPr/>
        </p:nvSpPr>
        <p:spPr>
          <a:xfrm>
            <a:off x="749808" y="4014216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 remarks from teachers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663440" y="4087368"/>
            <a:ext cx="82296" cy="822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2" name="Text 40"/>
          <p:cNvSpPr/>
          <p:nvPr/>
        </p:nvSpPr>
        <p:spPr>
          <a:xfrm>
            <a:off x="4864608" y="4014216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Parent-teacher meeting schedule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548640" y="4709160"/>
            <a:ext cx="82296" cy="822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4" name="Text 42"/>
          <p:cNvSpPr/>
          <p:nvPr/>
        </p:nvSpPr>
        <p:spPr>
          <a:xfrm>
            <a:off x="749808" y="463600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requests, submitted online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663440" y="4709160"/>
            <a:ext cx="82296" cy="822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6" name="Text 44"/>
          <p:cNvSpPr/>
          <p:nvPr/>
        </p:nvSpPr>
        <p:spPr>
          <a:xfrm>
            <a:off x="4864608" y="463600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notifications, the moment something changes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548640" y="5394960"/>
            <a:ext cx="7863840" cy="548640"/>
          </a:xfrm>
          <a:prstGeom prst="roundRect">
            <a:avLst>
              <a:gd name="adj" fmla="val 13333"/>
            </a:avLst>
          </a:prstGeom>
          <a:solidFill>
            <a:srgbClr val="0B2545"/>
          </a:solidFill>
          <a:ln/>
        </p:spPr>
      </p:sp>
      <p:sp>
        <p:nvSpPr>
          <p:cNvPr id="48" name="Text 46"/>
          <p:cNvSpPr/>
          <p:nvPr/>
        </p:nvSpPr>
        <p:spPr>
          <a:xfrm>
            <a:off x="548640" y="53949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Fewer calls to the front office. More trust in your school.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ERP — Product Overview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 Everyone in the Loop, Automatically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08676" cy="1600200"/>
          </a:xfrm>
          <a:prstGeom prst="roundRect">
            <a:avLst>
              <a:gd name="adj" fmla="val 4571"/>
            </a:avLst>
          </a:prstGeom>
          <a:solidFill>
            <a:srgbClr val="EAF6F6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82880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08760" y="1801368"/>
            <a:ext cx="42199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Circulars &amp; Notices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468880"/>
            <a:ext cx="48600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announcements to the whole school, specific classes, or individual sections.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31636" y="1600200"/>
            <a:ext cx="5408676" cy="1600200"/>
          </a:xfrm>
          <a:prstGeom prst="roundRect">
            <a:avLst>
              <a:gd name="adj" fmla="val 4571"/>
            </a:avLst>
          </a:prstGeom>
          <a:solidFill>
            <a:srgbClr val="EAF6F6"/>
          </a:solidFill>
          <a:ln/>
        </p:spPr>
      </p:sp>
      <p:sp>
        <p:nvSpPr>
          <p:cNvPr id="10" name="Shape 8"/>
          <p:cNvSpPr/>
          <p:nvPr/>
        </p:nvSpPr>
        <p:spPr>
          <a:xfrm>
            <a:off x="6460236" y="182880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6460236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191756" y="1801368"/>
            <a:ext cx="42199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Parent-Teacher Meetings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505956" y="2468880"/>
            <a:ext cx="48600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PTMs for the exact audience that needs to know — no confusion, no spam.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474720"/>
            <a:ext cx="5408676" cy="1600200"/>
          </a:xfrm>
          <a:prstGeom prst="roundRect">
            <a:avLst>
              <a:gd name="adj" fmla="val 4571"/>
            </a:avLst>
          </a:prstGeom>
          <a:solidFill>
            <a:srgbClr val="EAF6F6"/>
          </a:solidFill>
          <a:ln/>
        </p:spPr>
      </p:sp>
      <p:sp>
        <p:nvSpPr>
          <p:cNvPr id="15" name="Shape 13"/>
          <p:cNvSpPr/>
          <p:nvPr/>
        </p:nvSpPr>
        <p:spPr>
          <a:xfrm>
            <a:off x="777240" y="370332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703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08760" y="3675888"/>
            <a:ext cx="42199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Instant Notifications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2960" y="4343400"/>
            <a:ext cx="48600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update — attendance, fees, homework — lands in the portal and inbox in real time.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31636" y="3474720"/>
            <a:ext cx="5408676" cy="1600200"/>
          </a:xfrm>
          <a:prstGeom prst="roundRect">
            <a:avLst>
              <a:gd name="adj" fmla="val 4571"/>
            </a:avLst>
          </a:prstGeom>
          <a:solidFill>
            <a:srgbClr val="EAF6F6"/>
          </a:solidFill>
          <a:ln/>
        </p:spPr>
      </p:sp>
      <p:sp>
        <p:nvSpPr>
          <p:cNvPr id="20" name="Shape 18"/>
          <p:cNvSpPr/>
          <p:nvPr/>
        </p:nvSpPr>
        <p:spPr>
          <a:xfrm>
            <a:off x="6460236" y="370332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6460236" y="3703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191756" y="3675888"/>
            <a:ext cx="42199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Simple, Secure Login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505956" y="4343400"/>
            <a:ext cx="48600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Parents log in with just a phone number and OTP — no passwords to remember or reset.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ERP — Product Overview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A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Works While You Sleep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quietly handles the routine work in the background — so your staff can focus on students, not admin.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5408676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103120"/>
            <a:ext cx="82296" cy="13716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267712"/>
            <a:ext cx="48600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Attendance, marked all day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22960" y="2761488"/>
            <a:ext cx="48600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automatically through the school day — no one has to remember to trigger it.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31636" y="2103120"/>
            <a:ext cx="5408676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6231636" y="2103120"/>
            <a:ext cx="82296" cy="13716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6505956" y="2267712"/>
            <a:ext cx="48600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Fee reminders, sent on schedule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505956" y="2761488"/>
            <a:ext cx="48600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morning, without anyone lifting a finger.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703320"/>
            <a:ext cx="5408676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3703320"/>
            <a:ext cx="82296" cy="13716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867912"/>
            <a:ext cx="48600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 academic year, ready on time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22960" y="4361688"/>
            <a:ext cx="48600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one year ends, the next one is created automatically.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231636" y="3703320"/>
            <a:ext cx="5408676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6231636" y="3703320"/>
            <a:ext cx="82296" cy="13716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9" name="Text 17"/>
          <p:cNvSpPr/>
          <p:nvPr/>
        </p:nvSpPr>
        <p:spPr>
          <a:xfrm>
            <a:off x="6505956" y="3867912"/>
            <a:ext cx="48600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Records tidied up each year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505956" y="4361688"/>
            <a:ext cx="48600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data is safely archived so your system stays fast and organized.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ERP — Product Overview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CONTROL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Enterprise-Grade Security, Built In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14344" cy="1828800"/>
          </a:xfrm>
          <a:prstGeom prst="roundRect">
            <a:avLst>
              <a:gd name="adj" fmla="val 4000"/>
            </a:avLst>
          </a:prstGeom>
          <a:solidFill>
            <a:srgbClr val="EAF6F6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801368"/>
            <a:ext cx="502920" cy="502920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013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2423160"/>
            <a:ext cx="3057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Role-Based Access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2807208"/>
            <a:ext cx="3057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person sees only what's relevant to their role — nothing more.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37304" y="1600200"/>
            <a:ext cx="3514344" cy="1828800"/>
          </a:xfrm>
          <a:prstGeom prst="roundRect">
            <a:avLst>
              <a:gd name="adj" fmla="val 4000"/>
            </a:avLst>
          </a:prstGeom>
          <a:solidFill>
            <a:srgbClr val="EAF6F6"/>
          </a:solidFill>
          <a:ln/>
        </p:spPr>
      </p:sp>
      <p:sp>
        <p:nvSpPr>
          <p:cNvPr id="10" name="Shape 8"/>
          <p:cNvSpPr/>
          <p:nvPr/>
        </p:nvSpPr>
        <p:spPr>
          <a:xfrm>
            <a:off x="4565904" y="1801368"/>
            <a:ext cx="502920" cy="502920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11" name="Text 9"/>
          <p:cNvSpPr/>
          <p:nvPr/>
        </p:nvSpPr>
        <p:spPr>
          <a:xfrm>
            <a:off x="4565904" y="18013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65904" y="2423160"/>
            <a:ext cx="3057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Each Campus, Isolated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65904" y="2807208"/>
            <a:ext cx="3057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branch's data is never visible to another — even within the same group.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125968" y="1600200"/>
            <a:ext cx="3514344" cy="1828800"/>
          </a:xfrm>
          <a:prstGeom prst="roundRect">
            <a:avLst>
              <a:gd name="adj" fmla="val 4000"/>
            </a:avLst>
          </a:prstGeom>
          <a:solidFill>
            <a:srgbClr val="EAF6F6"/>
          </a:solidFill>
          <a:ln/>
        </p:spPr>
      </p:sp>
      <p:sp>
        <p:nvSpPr>
          <p:cNvPr id="15" name="Shape 13"/>
          <p:cNvSpPr/>
          <p:nvPr/>
        </p:nvSpPr>
        <p:spPr>
          <a:xfrm>
            <a:off x="8354568" y="1801368"/>
            <a:ext cx="502920" cy="502920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16" name="Text 14"/>
          <p:cNvSpPr/>
          <p:nvPr/>
        </p:nvSpPr>
        <p:spPr>
          <a:xfrm>
            <a:off x="8354568" y="18013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354568" y="2423160"/>
            <a:ext cx="3057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Audit Trail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354568" y="2807208"/>
            <a:ext cx="3057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important action is logged: who did what, and when.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657600"/>
            <a:ext cx="3514344" cy="1828800"/>
          </a:xfrm>
          <a:prstGeom prst="roundRect">
            <a:avLst>
              <a:gd name="adj" fmla="val 4000"/>
            </a:avLst>
          </a:prstGeom>
          <a:solidFill>
            <a:srgbClr val="EAF6F6"/>
          </a:solidFill>
          <a:ln/>
        </p:spPr>
      </p:sp>
      <p:sp>
        <p:nvSpPr>
          <p:cNvPr id="20" name="Shape 18"/>
          <p:cNvSpPr/>
          <p:nvPr/>
        </p:nvSpPr>
        <p:spPr>
          <a:xfrm>
            <a:off x="777240" y="3858768"/>
            <a:ext cx="502920" cy="502920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38587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77240" y="4480560"/>
            <a:ext cx="3057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Instant Block &amp; Unblock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77240" y="4864608"/>
            <a:ext cx="3057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Suspend a compromised account or an entire campus in one click, reversibly.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337304" y="3657600"/>
            <a:ext cx="3514344" cy="1828800"/>
          </a:xfrm>
          <a:prstGeom prst="roundRect">
            <a:avLst>
              <a:gd name="adj" fmla="val 4000"/>
            </a:avLst>
          </a:prstGeom>
          <a:solidFill>
            <a:srgbClr val="EAF6F6"/>
          </a:solidFill>
          <a:ln/>
        </p:spPr>
      </p:sp>
      <p:sp>
        <p:nvSpPr>
          <p:cNvPr id="25" name="Shape 23"/>
          <p:cNvSpPr/>
          <p:nvPr/>
        </p:nvSpPr>
        <p:spPr>
          <a:xfrm>
            <a:off x="4565904" y="3858768"/>
            <a:ext cx="502920" cy="502920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26" name="Text 24"/>
          <p:cNvSpPr/>
          <p:nvPr/>
        </p:nvSpPr>
        <p:spPr>
          <a:xfrm>
            <a:off x="4565904" y="38587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565904" y="4480560"/>
            <a:ext cx="3057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Encrypted Credentials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65904" y="4864608"/>
            <a:ext cx="3057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Passwords are never stored in plain text, and sessions expire automatically.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125968" y="3657600"/>
            <a:ext cx="3514344" cy="1828800"/>
          </a:xfrm>
          <a:prstGeom prst="roundRect">
            <a:avLst>
              <a:gd name="adj" fmla="val 4000"/>
            </a:avLst>
          </a:prstGeom>
          <a:solidFill>
            <a:srgbClr val="EAF6F6"/>
          </a:solidFill>
          <a:ln/>
        </p:spPr>
      </p:sp>
      <p:sp>
        <p:nvSpPr>
          <p:cNvPr id="30" name="Shape 28"/>
          <p:cNvSpPr/>
          <p:nvPr/>
        </p:nvSpPr>
        <p:spPr>
          <a:xfrm>
            <a:off x="8354568" y="3858768"/>
            <a:ext cx="502920" cy="502920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31" name="Text 29"/>
          <p:cNvSpPr/>
          <p:nvPr/>
        </p:nvSpPr>
        <p:spPr>
          <a:xfrm>
            <a:off x="8354568" y="38587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354568" y="4480560"/>
            <a:ext cx="3057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Reliable by Design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354568" y="4864608"/>
            <a:ext cx="3057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features like email delivery and login keep working even under heavy load.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ERP — Product Overview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A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 With One Campus. Grow to Ten.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ERP is built around your organization, not just a single building — so growth never means starting over.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392424" cy="1371600"/>
          </a:xfrm>
          <a:prstGeom prst="roundRect">
            <a:avLst>
              <a:gd name="adj" fmla="val 5333"/>
            </a:avLst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313432"/>
            <a:ext cx="3026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31520" y="2651760"/>
            <a:ext cx="3026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campus, fully set up and running.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941064" y="25603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398264" y="2148840"/>
            <a:ext cx="3392424" cy="1371600"/>
          </a:xfrm>
          <a:prstGeom prst="roundRect">
            <a:avLst>
              <a:gd name="adj" fmla="val 5333"/>
            </a:avLst>
          </a:prstGeom>
          <a:solidFill>
            <a:srgbClr val="0B2545"/>
          </a:solidFill>
          <a:ln/>
        </p:spPr>
      </p:sp>
      <p:sp>
        <p:nvSpPr>
          <p:cNvPr id="10" name="Text 8"/>
          <p:cNvSpPr/>
          <p:nvPr/>
        </p:nvSpPr>
        <p:spPr>
          <a:xfrm>
            <a:off x="4581144" y="2313432"/>
            <a:ext cx="3026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YEAR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81144" y="2651760"/>
            <a:ext cx="3026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 second campus — same account, same login system.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90688" y="25603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8247888" y="2148840"/>
            <a:ext cx="3392424" cy="1371600"/>
          </a:xfrm>
          <a:prstGeom prst="roundRect">
            <a:avLst>
              <a:gd name="adj" fmla="val 5333"/>
            </a:avLst>
          </a:prstGeom>
          <a:solidFill>
            <a:srgbClr val="F2A93B"/>
          </a:solidFill>
          <a:ln/>
        </p:spPr>
      </p:sp>
      <p:sp>
        <p:nvSpPr>
          <p:cNvPr id="14" name="Text 12"/>
          <p:cNvSpPr/>
          <p:nvPr/>
        </p:nvSpPr>
        <p:spPr>
          <a:xfrm>
            <a:off x="8430768" y="2313432"/>
            <a:ext cx="3026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YEARS FROM NOW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430768" y="2651760"/>
            <a:ext cx="3026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network of campuses from one connected platform.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886200"/>
            <a:ext cx="11091672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0690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re-onboarding. No rebuilding. No new system to learn.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" y="43891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new campus you open plugs into the same account, with its own dashboard and its own team — while you keep a single view across the whole group. This is what makes School ERP a long-term investment, not just a tool for right now.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ERP — Product Overview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COMPARISON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Old Way vs. The School ERP Way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49240" cy="502920"/>
          </a:xfrm>
          <a:prstGeom prst="rect">
            <a:avLst/>
          </a:prstGeom>
          <a:solidFill>
            <a:srgbClr val="F4E3D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5448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8A5A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OLD WAY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035040" y="1554480"/>
            <a:ext cx="5605272" cy="5029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6035040" y="1554480"/>
            <a:ext cx="5605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SCHOOL ERP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057400"/>
            <a:ext cx="5349240" cy="621792"/>
          </a:xfrm>
          <a:prstGeom prst="rect">
            <a:avLst/>
          </a:prstGeom>
          <a:solidFill>
            <a:srgbClr val="FBF3EA"/>
          </a:solidFill>
          <a:ln w="6350">
            <a:solidFill>
              <a:srgbClr val="EEE0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057400"/>
            <a:ext cx="4983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registers &amp; manual attendance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035040" y="2057400"/>
            <a:ext cx="5605272" cy="621792"/>
          </a:xfrm>
          <a:prstGeom prst="rect">
            <a:avLst/>
          </a:prstGeom>
          <a:solidFill>
            <a:srgbClr val="EAF6F6"/>
          </a:solidFill>
          <a:ln w="6350">
            <a:solidFill>
              <a:srgbClr val="CDEF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0" y="2057400"/>
            <a:ext cx="5257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attendance with instant parent alerts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2679192"/>
            <a:ext cx="53492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EE0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679192"/>
            <a:ext cx="4983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chasing late fee payments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035040" y="2679192"/>
            <a:ext cx="5605272" cy="621792"/>
          </a:xfrm>
          <a:prstGeom prst="rect">
            <a:avLst/>
          </a:prstGeom>
          <a:solidFill>
            <a:srgbClr val="DCF3EF"/>
          </a:solidFill>
          <a:ln w="6350">
            <a:solidFill>
              <a:srgbClr val="CDEF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2679192"/>
            <a:ext cx="5257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reminders and instant receipts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300984"/>
            <a:ext cx="5349240" cy="621792"/>
          </a:xfrm>
          <a:prstGeom prst="rect">
            <a:avLst/>
          </a:prstGeom>
          <a:solidFill>
            <a:srgbClr val="FBF3EA"/>
          </a:solidFill>
          <a:ln w="6350">
            <a:solidFill>
              <a:srgbClr val="EEE0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300984"/>
            <a:ext cx="4983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Parents calling for every update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035040" y="3300984"/>
            <a:ext cx="5605272" cy="621792"/>
          </a:xfrm>
          <a:prstGeom prst="rect">
            <a:avLst/>
          </a:prstGeom>
          <a:solidFill>
            <a:srgbClr val="EAF6F6"/>
          </a:solidFill>
          <a:ln w="6350">
            <a:solidFill>
              <a:srgbClr val="CDEF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0" y="3300984"/>
            <a:ext cx="5257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self-service portal, updated in real time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3922776"/>
            <a:ext cx="53492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EE0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922776"/>
            <a:ext cx="4983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Admissions on paper forms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035040" y="3922776"/>
            <a:ext cx="5605272" cy="621792"/>
          </a:xfrm>
          <a:prstGeom prst="rect">
            <a:avLst/>
          </a:prstGeom>
          <a:solidFill>
            <a:srgbClr val="DCF3EF"/>
          </a:solidFill>
          <a:ln w="6350">
            <a:solidFill>
              <a:srgbClr val="CDEF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0" y="3922776"/>
            <a:ext cx="5257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digital pipeline from inquiry to enrollment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4544568"/>
            <a:ext cx="5349240" cy="621792"/>
          </a:xfrm>
          <a:prstGeom prst="rect">
            <a:avLst/>
          </a:prstGeom>
          <a:solidFill>
            <a:srgbClr val="FBF3EA"/>
          </a:solidFill>
          <a:ln w="6350">
            <a:solidFill>
              <a:srgbClr val="EEE0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4544568"/>
            <a:ext cx="4983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Scattered spreadsheets per campus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035040" y="4544568"/>
            <a:ext cx="5605272" cy="621792"/>
          </a:xfrm>
          <a:prstGeom prst="rect">
            <a:avLst/>
          </a:prstGeom>
          <a:solidFill>
            <a:srgbClr val="EAF6F6"/>
          </a:solidFill>
          <a:ln w="6350">
            <a:solidFill>
              <a:srgbClr val="CDEF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0" y="4544568"/>
            <a:ext cx="5257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connected dashboard for your whole group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5166360"/>
            <a:ext cx="53492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EE0C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" y="5166360"/>
            <a:ext cx="4983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re-setup for every new branch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035040" y="5166360"/>
            <a:ext cx="5605272" cy="621792"/>
          </a:xfrm>
          <a:prstGeom prst="rect">
            <a:avLst/>
          </a:prstGeom>
          <a:solidFill>
            <a:srgbClr val="DCF3EF"/>
          </a:solidFill>
          <a:ln w="6350">
            <a:solidFill>
              <a:srgbClr val="CDEF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17920" y="5166360"/>
            <a:ext cx="5257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campuses plug into the same system instantly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ERP — Product Overview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A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Modern Technology You Can Rely On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don't need to understand the technology to benefit from it — but here's why it holds up.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2567178" cy="3383280"/>
          </a:xfrm>
          <a:prstGeom prst="roundRect">
            <a:avLst>
              <a:gd name="adj" fmla="val 2850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1557909" y="237744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1557909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●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108960"/>
            <a:ext cx="22014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Always Available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49808" y="3703320"/>
            <a:ext cx="21648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Cloud-hosted, so your school's data is accessible anytime, from anywhere.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90138" y="2103120"/>
            <a:ext cx="2567178" cy="3383280"/>
          </a:xfrm>
          <a:prstGeom prst="roundRect">
            <a:avLst>
              <a:gd name="adj" fmla="val 2850"/>
            </a:avLst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4399407" y="237744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4399407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●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73018" y="3108960"/>
            <a:ext cx="22014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by Default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591306" y="3703320"/>
            <a:ext cx="21648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appear instantly across every dashboard — no refreshing, no waiting.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31636" y="2103120"/>
            <a:ext cx="2567178" cy="3383280"/>
          </a:xfrm>
          <a:prstGeom prst="roundRect">
            <a:avLst>
              <a:gd name="adj" fmla="val 2850"/>
            </a:avLst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7240905" y="237744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7240905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●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14516" y="3108960"/>
            <a:ext cx="22014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Works on Any Device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32804" y="3703320"/>
            <a:ext cx="21648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clean, mobile-friendly experience for parents checking in on the go.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073134" y="2103120"/>
            <a:ext cx="2567178" cy="3383280"/>
          </a:xfrm>
          <a:prstGeom prst="roundRect">
            <a:avLst>
              <a:gd name="adj" fmla="val 2850"/>
            </a:avLst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10082403" y="237744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10082403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●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256014" y="3108960"/>
            <a:ext cx="22014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Dependable Delivery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274302" y="3703320"/>
            <a:ext cx="21648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Emails and alerts are built to keep going out, even during your busiest days.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ERP — Product Overview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8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029200" cy="5029200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114800"/>
            <a:ext cx="4572000" cy="4572000"/>
          </a:xfrm>
          <a:prstGeom prst="ellipse">
            <a:avLst/>
          </a:prstGeom>
          <a:solidFill>
            <a:srgbClr val="0F3A5F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6400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GET STARTED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13232" y="10058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Give Your School a Digital Upgrade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2532888" cy="1920240"/>
          </a:xfrm>
          <a:prstGeom prst="roundRect">
            <a:avLst>
              <a:gd name="adj" fmla="val 3810"/>
            </a:avLst>
          </a:prstGeom>
          <a:solidFill>
            <a:srgbClr val="12456E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233172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2926080"/>
            <a:ext cx="2167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 a Walkthrough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31520" y="3337560"/>
            <a:ext cx="21671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AF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the platform in action with a live demo tailored to your school.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401568" y="2148840"/>
            <a:ext cx="2532888" cy="1920240"/>
          </a:xfrm>
          <a:prstGeom prst="roundRect">
            <a:avLst>
              <a:gd name="adj" fmla="val 3810"/>
            </a:avLst>
          </a:prstGeom>
          <a:solidFill>
            <a:srgbClr val="12456E"/>
          </a:solidFill>
          <a:ln/>
        </p:spPr>
      </p:sp>
      <p:sp>
        <p:nvSpPr>
          <p:cNvPr id="12" name="Shape 10"/>
          <p:cNvSpPr/>
          <p:nvPr/>
        </p:nvSpPr>
        <p:spPr>
          <a:xfrm>
            <a:off x="3584448" y="233172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3584448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584448" y="2926080"/>
            <a:ext cx="2167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Set You Up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584448" y="3337560"/>
            <a:ext cx="21671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AF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organization and first campus are configured and ready.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54496" y="2148840"/>
            <a:ext cx="2532888" cy="1920240"/>
          </a:xfrm>
          <a:prstGeom prst="roundRect">
            <a:avLst>
              <a:gd name="adj" fmla="val 3810"/>
            </a:avLst>
          </a:prstGeom>
          <a:solidFill>
            <a:srgbClr val="12456E"/>
          </a:solidFill>
          <a:ln/>
        </p:spPr>
      </p:sp>
      <p:sp>
        <p:nvSpPr>
          <p:cNvPr id="17" name="Shape 15"/>
          <p:cNvSpPr/>
          <p:nvPr/>
        </p:nvSpPr>
        <p:spPr>
          <a:xfrm>
            <a:off x="6437376" y="233172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/>
          <p:nvPr/>
        </p:nvSpPr>
        <p:spPr>
          <a:xfrm>
            <a:off x="6437376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37376" y="2926080"/>
            <a:ext cx="2167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Team Gets Trained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37376" y="3337560"/>
            <a:ext cx="21671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AF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short, guided onboarding for admins, teachers, and front-desk staff.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107424" y="2148840"/>
            <a:ext cx="2532888" cy="1920240"/>
          </a:xfrm>
          <a:prstGeom prst="roundRect">
            <a:avLst>
              <a:gd name="adj" fmla="val 3810"/>
            </a:avLst>
          </a:prstGeom>
          <a:solidFill>
            <a:srgbClr val="12456E"/>
          </a:solidFill>
          <a:ln/>
        </p:spPr>
      </p:sp>
      <p:sp>
        <p:nvSpPr>
          <p:cNvPr id="22" name="Shape 20"/>
          <p:cNvSpPr/>
          <p:nvPr/>
        </p:nvSpPr>
        <p:spPr>
          <a:xfrm>
            <a:off x="9290304" y="233172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3" name="Text 21"/>
          <p:cNvSpPr/>
          <p:nvPr/>
        </p:nvSpPr>
        <p:spPr>
          <a:xfrm>
            <a:off x="9290304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290304" y="2926080"/>
            <a:ext cx="2167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 Live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9290304" y="3337560"/>
            <a:ext cx="21671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AF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running admissions, attendance, and fees digitally — in days.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48640" y="4434840"/>
            <a:ext cx="11091672" cy="1417320"/>
          </a:xfrm>
          <a:prstGeom prst="roundRect">
            <a:avLst>
              <a:gd name="adj" fmla="val 6452"/>
            </a:avLst>
          </a:prstGeom>
          <a:solidFill>
            <a:srgbClr val="F2A93B"/>
          </a:solidFill>
          <a:ln/>
        </p:spPr>
      </p:sp>
      <p:sp>
        <p:nvSpPr>
          <p:cNvPr id="27" name="Text 25"/>
          <p:cNvSpPr/>
          <p:nvPr/>
        </p:nvSpPr>
        <p:spPr>
          <a:xfrm>
            <a:off x="822960" y="46177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Ready to see it for your school?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822960" y="51206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3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Your Name ]   ·   [ Phone Number ]   ·   [ Email Address ]   ·   [ Website ]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54864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ERP — Product Overview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2026-09-19T03:25:39Z</dcterms:created>
  <dcterms:modified xsi:type="dcterms:W3CDTF">2026-09-19T03:25:39Z</dcterms:modified>
</cp:coreProperties>
</file>